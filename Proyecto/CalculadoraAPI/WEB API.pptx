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Anton" charset="1" panose="00000500000000000000"/>
      <p:regular r:id="rId15"/>
    </p:embeddedFont>
    <p:embeddedFont>
      <p:font typeface="Open Sans 1" charset="1" panose="00000000000000000000"/>
      <p:regular r:id="rId16"/>
    </p:embeddedFont>
    <p:embeddedFont>
      <p:font typeface="Open Sans 1 Bold" charset="1" panose="00000000000000000000"/>
      <p:regular r:id="rId17"/>
    </p:embeddedFont>
    <p:embeddedFont>
      <p:font typeface="Times New Roman" charset="1" panose="02020603050405020304"/>
      <p:regular r:id="rId18"/>
    </p:embeddedFont>
    <p:embeddedFont>
      <p:font typeface="Times New Roman MT" charset="1" panose="02030502070405020303"/>
      <p:regular r:id="rId19"/>
    </p:embeddedFont>
    <p:embeddedFont>
      <p:font typeface="Playfair Display Bold" charset="1" panose="00000000000000000000"/>
      <p:regular r:id="rId20"/>
    </p:embeddedFont>
    <p:embeddedFont>
      <p:font typeface="Open Sans 2 Bold" charset="1" panose="020B0806030504020204"/>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1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3.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1194B">
                <a:alpha val="100000"/>
              </a:srgbClr>
            </a:gs>
            <a:gs pos="100000">
              <a:srgbClr val="030117">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0" y="0"/>
            <a:ext cx="4182573" cy="10287000"/>
            <a:chOff x="0" y="0"/>
            <a:chExt cx="1101583" cy="2709333"/>
          </a:xfrm>
        </p:grpSpPr>
        <p:sp>
          <p:nvSpPr>
            <p:cNvPr name="Freeform 3" id="3"/>
            <p:cNvSpPr/>
            <p:nvPr/>
          </p:nvSpPr>
          <p:spPr>
            <a:xfrm flipH="false" flipV="false" rot="0">
              <a:off x="0" y="0"/>
              <a:ext cx="1101583" cy="2709333"/>
            </a:xfrm>
            <a:custGeom>
              <a:avLst/>
              <a:gdLst/>
              <a:ahLst/>
              <a:cxnLst/>
              <a:rect r="r" b="b" t="t" l="l"/>
              <a:pathLst>
                <a:path h="2709333" w="1101583">
                  <a:moveTo>
                    <a:pt x="0" y="0"/>
                  </a:moveTo>
                  <a:lnTo>
                    <a:pt x="1101583" y="0"/>
                  </a:lnTo>
                  <a:lnTo>
                    <a:pt x="1101583" y="2709333"/>
                  </a:lnTo>
                  <a:lnTo>
                    <a:pt x="0" y="2709333"/>
                  </a:lnTo>
                  <a:close/>
                </a:path>
              </a:pathLst>
            </a:custGeom>
            <a:gradFill rotWithShape="true">
              <a:gsLst>
                <a:gs pos="0">
                  <a:srgbClr val="2CEEFF">
                    <a:alpha val="100000"/>
                  </a:srgbClr>
                </a:gs>
                <a:gs pos="100000">
                  <a:srgbClr val="0039A6">
                    <a:alpha val="100000"/>
                  </a:srgbClr>
                </a:gs>
              </a:gsLst>
              <a:lin ang="2700000"/>
            </a:gradFill>
          </p:spPr>
        </p:sp>
        <p:sp>
          <p:nvSpPr>
            <p:cNvPr name="TextBox 4" id="4"/>
            <p:cNvSpPr txBox="true"/>
            <p:nvPr/>
          </p:nvSpPr>
          <p:spPr>
            <a:xfrm>
              <a:off x="0" y="-38100"/>
              <a:ext cx="110158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390247" y="1860559"/>
            <a:ext cx="9145640" cy="6984983"/>
          </a:xfrm>
          <a:custGeom>
            <a:avLst/>
            <a:gdLst/>
            <a:ahLst/>
            <a:cxnLst/>
            <a:rect r="r" b="b" t="t" l="l"/>
            <a:pathLst>
              <a:path h="6984983" w="9145640">
                <a:moveTo>
                  <a:pt x="0" y="0"/>
                </a:moveTo>
                <a:lnTo>
                  <a:pt x="9145640" y="0"/>
                </a:lnTo>
                <a:lnTo>
                  <a:pt x="9145640" y="6984982"/>
                </a:lnTo>
                <a:lnTo>
                  <a:pt x="0" y="6984982"/>
                </a:lnTo>
                <a:lnTo>
                  <a:pt x="0" y="0"/>
                </a:lnTo>
                <a:close/>
              </a:path>
            </a:pathLst>
          </a:custGeom>
          <a:blipFill>
            <a:blip r:embed="rId2"/>
            <a:stretch>
              <a:fillRect l="0" t="0" r="0" b="0"/>
            </a:stretch>
          </a:blipFill>
        </p:spPr>
      </p:sp>
      <p:grpSp>
        <p:nvGrpSpPr>
          <p:cNvPr name="Group 6" id="6"/>
          <p:cNvGrpSpPr/>
          <p:nvPr/>
        </p:nvGrpSpPr>
        <p:grpSpPr>
          <a:xfrm rot="0">
            <a:off x="0" y="2078028"/>
            <a:ext cx="8528306" cy="4624806"/>
            <a:chOff x="0" y="0"/>
            <a:chExt cx="11371075" cy="6166408"/>
          </a:xfrm>
        </p:grpSpPr>
        <p:pic>
          <p:nvPicPr>
            <p:cNvPr name="Picture 7" id="7"/>
            <p:cNvPicPr>
              <a:picLocks noChangeAspect="true"/>
            </p:cNvPicPr>
            <p:nvPr/>
          </p:nvPicPr>
          <p:blipFill>
            <a:blip r:embed="rId3"/>
            <a:srcRect l="10353" t="0" r="10353" b="0"/>
            <a:stretch>
              <a:fillRect/>
            </a:stretch>
          </p:blipFill>
          <p:spPr>
            <a:xfrm flipH="false" flipV="false">
              <a:off x="0" y="0"/>
              <a:ext cx="11371075" cy="6166408"/>
            </a:xfrm>
            <a:prstGeom prst="rect">
              <a:avLst/>
            </a:prstGeom>
          </p:spPr>
        </p:pic>
      </p:grpSp>
      <p:sp>
        <p:nvSpPr>
          <p:cNvPr name="Freeform 8" id="8"/>
          <p:cNvSpPr/>
          <p:nvPr/>
        </p:nvSpPr>
        <p:spPr>
          <a:xfrm flipH="false" flipV="false" rot="0">
            <a:off x="8001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4">
              <a:alphaModFix amt="17000"/>
            </a:blip>
            <a:stretch>
              <a:fillRect l="0" t="0" r="0" b="0"/>
            </a:stretch>
          </a:blipFill>
        </p:spPr>
      </p:sp>
      <p:grpSp>
        <p:nvGrpSpPr>
          <p:cNvPr name="Group 9" id="9"/>
          <p:cNvGrpSpPr/>
          <p:nvPr/>
        </p:nvGrpSpPr>
        <p:grpSpPr>
          <a:xfrm rot="0">
            <a:off x="17293116" y="565634"/>
            <a:ext cx="397367" cy="28996"/>
            <a:chOff x="0" y="0"/>
            <a:chExt cx="128243" cy="9358"/>
          </a:xfrm>
        </p:grpSpPr>
        <p:sp>
          <p:nvSpPr>
            <p:cNvPr name="Freeform 10" id="10"/>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gradFill rotWithShape="true">
              <a:gsLst>
                <a:gs pos="0">
                  <a:srgbClr val="2CEEFF">
                    <a:alpha val="100000"/>
                  </a:srgbClr>
                </a:gs>
                <a:gs pos="100000">
                  <a:srgbClr val="0039A6">
                    <a:alpha val="100000"/>
                  </a:srgbClr>
                </a:gs>
              </a:gsLst>
              <a:lin ang="2700000"/>
            </a:gradFill>
          </p:spPr>
        </p:sp>
        <p:sp>
          <p:nvSpPr>
            <p:cNvPr name="TextBox 11" id="11"/>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7293116" y="657737"/>
            <a:ext cx="397367" cy="28996"/>
            <a:chOff x="0" y="0"/>
            <a:chExt cx="128243" cy="9358"/>
          </a:xfrm>
        </p:grpSpPr>
        <p:sp>
          <p:nvSpPr>
            <p:cNvPr name="Freeform 13" id="13"/>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gradFill rotWithShape="true">
              <a:gsLst>
                <a:gs pos="0">
                  <a:srgbClr val="2CEEFF">
                    <a:alpha val="100000"/>
                  </a:srgbClr>
                </a:gs>
                <a:gs pos="100000">
                  <a:srgbClr val="0039A6">
                    <a:alpha val="100000"/>
                  </a:srgbClr>
                </a:gs>
              </a:gsLst>
              <a:lin ang="2700000"/>
            </a:gradFill>
          </p:spPr>
        </p:sp>
        <p:sp>
          <p:nvSpPr>
            <p:cNvPr name="TextBox 14" id="14"/>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0">
            <a:off x="552392" y="453924"/>
            <a:ext cx="358281" cy="363569"/>
          </a:xfrm>
          <a:custGeom>
            <a:avLst/>
            <a:gdLst/>
            <a:ahLst/>
            <a:cxnLst/>
            <a:rect r="r" b="b" t="t" l="l"/>
            <a:pathLst>
              <a:path h="363569" w="358281">
                <a:moveTo>
                  <a:pt x="0" y="0"/>
                </a:moveTo>
                <a:lnTo>
                  <a:pt x="358281" y="0"/>
                </a:lnTo>
                <a:lnTo>
                  <a:pt x="358281" y="363570"/>
                </a:lnTo>
                <a:lnTo>
                  <a:pt x="0" y="36357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0">
            <a:off x="679594" y="546065"/>
            <a:ext cx="103876" cy="140719"/>
          </a:xfrm>
          <a:custGeom>
            <a:avLst/>
            <a:gdLst/>
            <a:ahLst/>
            <a:cxnLst/>
            <a:rect r="r" b="b" t="t" l="l"/>
            <a:pathLst>
              <a:path h="140719" w="103876">
                <a:moveTo>
                  <a:pt x="0" y="0"/>
                </a:moveTo>
                <a:lnTo>
                  <a:pt x="103877" y="0"/>
                </a:lnTo>
                <a:lnTo>
                  <a:pt x="103877" y="140719"/>
                </a:lnTo>
                <a:lnTo>
                  <a:pt x="0" y="1407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7" id="17"/>
          <p:cNvGrpSpPr/>
          <p:nvPr/>
        </p:nvGrpSpPr>
        <p:grpSpPr>
          <a:xfrm rot="0">
            <a:off x="17742214" y="7517955"/>
            <a:ext cx="47625" cy="1740345"/>
            <a:chOff x="0" y="0"/>
            <a:chExt cx="12543" cy="458362"/>
          </a:xfrm>
        </p:grpSpPr>
        <p:sp>
          <p:nvSpPr>
            <p:cNvPr name="Freeform 18" id="18"/>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2CEEFF">
                    <a:alpha val="100000"/>
                  </a:srgbClr>
                </a:gs>
                <a:gs pos="100000">
                  <a:srgbClr val="0039A6">
                    <a:alpha val="100000"/>
                  </a:srgbClr>
                </a:gs>
              </a:gsLst>
              <a:lin ang="2700000"/>
            </a:gradFill>
          </p:spPr>
        </p:sp>
        <p:sp>
          <p:nvSpPr>
            <p:cNvPr name="TextBox 19" id="19"/>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TextBox 20" id="20"/>
          <p:cNvSpPr txBox="true"/>
          <p:nvPr/>
        </p:nvSpPr>
        <p:spPr>
          <a:xfrm rot="0">
            <a:off x="9194341" y="667262"/>
            <a:ext cx="8655354" cy="5348999"/>
          </a:xfrm>
          <a:prstGeom prst="rect">
            <a:avLst/>
          </a:prstGeom>
        </p:spPr>
        <p:txBody>
          <a:bodyPr anchor="t" rtlCol="false" tIns="0" lIns="0" bIns="0" rIns="0">
            <a:spAutoFit/>
          </a:bodyPr>
          <a:lstStyle/>
          <a:p>
            <a:pPr algn="ctr">
              <a:lnSpc>
                <a:spcPts val="14054"/>
              </a:lnSpc>
            </a:pPr>
          </a:p>
          <a:p>
            <a:pPr algn="ctr">
              <a:lnSpc>
                <a:spcPts val="14054"/>
              </a:lnSpc>
            </a:pPr>
            <a:r>
              <a:rPr lang="en-US" sz="11810">
                <a:solidFill>
                  <a:srgbClr val="29E2F9"/>
                </a:solidFill>
                <a:latin typeface="Anton"/>
                <a:ea typeface="Anton"/>
                <a:cs typeface="Anton"/>
                <a:sym typeface="Anton"/>
              </a:rPr>
              <a:t>WEB API CALCULADORA</a:t>
            </a:r>
          </a:p>
        </p:txBody>
      </p:sp>
      <p:sp>
        <p:nvSpPr>
          <p:cNvPr name="AutoShape 21" id="21"/>
          <p:cNvSpPr/>
          <p:nvPr/>
        </p:nvSpPr>
        <p:spPr>
          <a:xfrm>
            <a:off x="13849234" y="7182124"/>
            <a:ext cx="2110658" cy="0"/>
          </a:xfrm>
          <a:prstGeom prst="line">
            <a:avLst/>
          </a:prstGeom>
          <a:ln cap="flat" w="38100">
            <a:gradFill>
              <a:gsLst>
                <a:gs pos="0">
                  <a:srgbClr val="2CEEFF">
                    <a:alpha val="100000"/>
                  </a:srgbClr>
                </a:gs>
                <a:gs pos="100000">
                  <a:srgbClr val="0039A6">
                    <a:alpha val="100000"/>
                  </a:srgbClr>
                </a:gs>
              </a:gsLst>
              <a:lin ang="2700000"/>
            </a:gradFill>
            <a:prstDash val="solid"/>
            <a:headEnd type="none" len="sm" w="sm"/>
            <a:tailEnd type="none" len="sm" w="sm"/>
          </a:ln>
        </p:spPr>
      </p:sp>
      <p:sp>
        <p:nvSpPr>
          <p:cNvPr name="TextBox 22" id="22"/>
          <p:cNvSpPr txBox="true"/>
          <p:nvPr/>
        </p:nvSpPr>
        <p:spPr>
          <a:xfrm rot="0">
            <a:off x="1039108" y="517674"/>
            <a:ext cx="1263019"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1"/>
                <a:ea typeface="Open Sans 1"/>
                <a:cs typeface="Open Sans 1"/>
                <a:sym typeface="Open Sans 1"/>
              </a:rPr>
              <a:t>Studio Shodwe</a:t>
            </a:r>
          </a:p>
        </p:txBody>
      </p:sp>
      <p:sp>
        <p:nvSpPr>
          <p:cNvPr name="TextBox 23" id="23"/>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1"/>
                <a:ea typeface="Open Sans 1"/>
                <a:cs typeface="Open Sans 1"/>
                <a:sym typeface="Open Sans 1"/>
              </a:rPr>
              <a:t>Contact</a:t>
            </a:r>
          </a:p>
        </p:txBody>
      </p:sp>
      <p:sp>
        <p:nvSpPr>
          <p:cNvPr name="TextBox 24" id="24"/>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1"/>
                <a:ea typeface="Open Sans 1"/>
                <a:cs typeface="Open Sans 1"/>
                <a:sym typeface="Open Sans 1"/>
              </a:rPr>
              <a:t>About Us</a:t>
            </a:r>
          </a:p>
        </p:txBody>
      </p:sp>
      <p:sp>
        <p:nvSpPr>
          <p:cNvPr name="TextBox 25" id="25"/>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1"/>
                <a:ea typeface="Open Sans 1"/>
                <a:cs typeface="Open Sans 1"/>
                <a:sym typeface="Open Sans 1"/>
              </a:rPr>
              <a:t>Video</a:t>
            </a:r>
          </a:p>
        </p:txBody>
      </p:sp>
      <p:sp>
        <p:nvSpPr>
          <p:cNvPr name="TextBox 26" id="26"/>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1"/>
                <a:ea typeface="Open Sans 1"/>
                <a:cs typeface="Open Sans 1"/>
                <a:sym typeface="Open Sans 1"/>
              </a:rPr>
              <a:t>Home</a:t>
            </a:r>
          </a:p>
        </p:txBody>
      </p:sp>
      <p:sp>
        <p:nvSpPr>
          <p:cNvPr name="TextBox 27" id="27"/>
          <p:cNvSpPr txBox="true"/>
          <p:nvPr/>
        </p:nvSpPr>
        <p:spPr>
          <a:xfrm rot="0">
            <a:off x="17492295" y="9568113"/>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1 Bold"/>
                <a:ea typeface="Open Sans 1 Bold"/>
                <a:cs typeface="Open Sans 1 Bold"/>
                <a:sym typeface="Open Sans 1 Bold"/>
              </a:rPr>
              <a:t>01</a:t>
            </a:r>
          </a:p>
        </p:txBody>
      </p:sp>
      <p:sp>
        <p:nvSpPr>
          <p:cNvPr name="TextBox 28" id="28"/>
          <p:cNvSpPr txBox="true"/>
          <p:nvPr/>
        </p:nvSpPr>
        <p:spPr>
          <a:xfrm rot="0">
            <a:off x="11227660" y="6090554"/>
            <a:ext cx="4572660" cy="2422834"/>
          </a:xfrm>
          <a:prstGeom prst="rect">
            <a:avLst/>
          </a:prstGeom>
        </p:spPr>
        <p:txBody>
          <a:bodyPr anchor="t" rtlCol="false" tIns="0" lIns="0" bIns="0" rIns="0">
            <a:spAutoFit/>
          </a:bodyPr>
          <a:lstStyle/>
          <a:p>
            <a:pPr algn="ctr">
              <a:lnSpc>
                <a:spcPts val="6437"/>
              </a:lnSpc>
            </a:pPr>
            <a:r>
              <a:rPr lang="en-US" sz="4597">
                <a:solidFill>
                  <a:srgbClr val="FFFFFF"/>
                </a:solidFill>
                <a:latin typeface="Times New Roman"/>
                <a:ea typeface="Times New Roman"/>
                <a:cs typeface="Times New Roman"/>
                <a:sym typeface="Times New Roman"/>
              </a:rPr>
              <a:t>Integrantes:</a:t>
            </a:r>
          </a:p>
          <a:p>
            <a:pPr algn="ctr">
              <a:lnSpc>
                <a:spcPts val="6437"/>
              </a:lnSpc>
            </a:pPr>
            <a:r>
              <a:rPr lang="en-US" sz="4597">
                <a:solidFill>
                  <a:srgbClr val="FFFFFF"/>
                </a:solidFill>
                <a:latin typeface="Times New Roman"/>
                <a:ea typeface="Times New Roman"/>
                <a:cs typeface="Times New Roman"/>
                <a:sym typeface="Times New Roman"/>
              </a:rPr>
              <a:t>Richard Rodriguez.</a:t>
            </a:r>
          </a:p>
          <a:p>
            <a:pPr algn="ctr">
              <a:lnSpc>
                <a:spcPts val="6437"/>
              </a:lnSpc>
              <a:spcBef>
                <a:spcPct val="0"/>
              </a:spcBef>
            </a:pPr>
            <a:r>
              <a:rPr lang="en-US" sz="4597">
                <a:solidFill>
                  <a:srgbClr val="FFFFFF"/>
                </a:solidFill>
                <a:latin typeface="Times New Roman"/>
                <a:ea typeface="Times New Roman"/>
                <a:cs typeface="Times New Roman"/>
                <a:sym typeface="Times New Roman"/>
              </a:rPr>
              <a:t>Rachel Mejia.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1194B">
                <a:alpha val="100000"/>
              </a:srgbClr>
            </a:gs>
            <a:gs pos="100000">
              <a:srgbClr val="030117">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0470741"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alphaModFix amt="17000"/>
            </a:blip>
            <a:stretch>
              <a:fillRect l="0" t="0" r="0" b="0"/>
            </a:stretch>
          </a:blipFill>
        </p:spPr>
      </p:sp>
      <p:grpSp>
        <p:nvGrpSpPr>
          <p:cNvPr name="Group 3" id="3"/>
          <p:cNvGrpSpPr/>
          <p:nvPr/>
        </p:nvGrpSpPr>
        <p:grpSpPr>
          <a:xfrm rot="0">
            <a:off x="17293116" y="565634"/>
            <a:ext cx="397367" cy="28996"/>
            <a:chOff x="0" y="0"/>
            <a:chExt cx="128243" cy="9358"/>
          </a:xfrm>
        </p:grpSpPr>
        <p:sp>
          <p:nvSpPr>
            <p:cNvPr name="Freeform 4" id="4"/>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gradFill rotWithShape="true">
              <a:gsLst>
                <a:gs pos="0">
                  <a:srgbClr val="2CEEFF">
                    <a:alpha val="100000"/>
                  </a:srgbClr>
                </a:gs>
                <a:gs pos="100000">
                  <a:srgbClr val="0039A6">
                    <a:alpha val="100000"/>
                  </a:srgbClr>
                </a:gs>
              </a:gsLst>
              <a:lin ang="2700000"/>
            </a:gradFill>
          </p:spPr>
        </p:sp>
        <p:sp>
          <p:nvSpPr>
            <p:cNvPr name="TextBox 5" id="5"/>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7293116" y="657737"/>
            <a:ext cx="397367" cy="28996"/>
            <a:chOff x="0" y="0"/>
            <a:chExt cx="128243" cy="9358"/>
          </a:xfrm>
        </p:grpSpPr>
        <p:sp>
          <p:nvSpPr>
            <p:cNvPr name="Freeform 7" id="7"/>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gradFill rotWithShape="true">
              <a:gsLst>
                <a:gs pos="0">
                  <a:srgbClr val="2CEEFF">
                    <a:alpha val="100000"/>
                  </a:srgbClr>
                </a:gs>
                <a:gs pos="100000">
                  <a:srgbClr val="0039A6">
                    <a:alpha val="100000"/>
                  </a:srgbClr>
                </a:gs>
              </a:gsLst>
              <a:lin ang="2700000"/>
            </a:gradFill>
          </p:spPr>
        </p:sp>
        <p:sp>
          <p:nvSpPr>
            <p:cNvPr name="TextBox 8" id="8"/>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552392" y="453924"/>
            <a:ext cx="358281" cy="363569"/>
          </a:xfrm>
          <a:custGeom>
            <a:avLst/>
            <a:gdLst/>
            <a:ahLst/>
            <a:cxnLst/>
            <a:rect r="r" b="b" t="t" l="l"/>
            <a:pathLst>
              <a:path h="363569" w="358281">
                <a:moveTo>
                  <a:pt x="0" y="0"/>
                </a:moveTo>
                <a:lnTo>
                  <a:pt x="358281" y="0"/>
                </a:lnTo>
                <a:lnTo>
                  <a:pt x="358281" y="363570"/>
                </a:lnTo>
                <a:lnTo>
                  <a:pt x="0" y="3635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679594" y="546065"/>
            <a:ext cx="103876" cy="140719"/>
          </a:xfrm>
          <a:custGeom>
            <a:avLst/>
            <a:gdLst/>
            <a:ahLst/>
            <a:cxnLst/>
            <a:rect r="r" b="b" t="t" l="l"/>
            <a:pathLst>
              <a:path h="140719" w="103876">
                <a:moveTo>
                  <a:pt x="0" y="0"/>
                </a:moveTo>
                <a:lnTo>
                  <a:pt x="103877" y="0"/>
                </a:lnTo>
                <a:lnTo>
                  <a:pt x="103877" y="140719"/>
                </a:lnTo>
                <a:lnTo>
                  <a:pt x="0" y="1407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1" id="11"/>
          <p:cNvGrpSpPr/>
          <p:nvPr/>
        </p:nvGrpSpPr>
        <p:grpSpPr>
          <a:xfrm rot="0">
            <a:off x="17742214" y="7517955"/>
            <a:ext cx="47625" cy="1740345"/>
            <a:chOff x="0" y="0"/>
            <a:chExt cx="12543" cy="458362"/>
          </a:xfrm>
        </p:grpSpPr>
        <p:sp>
          <p:nvSpPr>
            <p:cNvPr name="Freeform 12" id="12"/>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2CEEFF">
                    <a:alpha val="100000"/>
                  </a:srgbClr>
                </a:gs>
                <a:gs pos="100000">
                  <a:srgbClr val="0039A6">
                    <a:alpha val="100000"/>
                  </a:srgbClr>
                </a:gs>
              </a:gsLst>
              <a:lin ang="2700000"/>
            </a:gradFill>
          </p:spPr>
        </p:sp>
        <p:sp>
          <p:nvSpPr>
            <p:cNvPr name="TextBox 13" id="13"/>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1"/>
                <a:ea typeface="Open Sans 1"/>
                <a:cs typeface="Open Sans 1"/>
                <a:sym typeface="Open Sans 1"/>
              </a:rPr>
              <a:t>Contact</a:t>
            </a:r>
          </a:p>
        </p:txBody>
      </p:sp>
      <p:sp>
        <p:nvSpPr>
          <p:cNvPr name="TextBox 15" id="15"/>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1"/>
                <a:ea typeface="Open Sans 1"/>
                <a:cs typeface="Open Sans 1"/>
                <a:sym typeface="Open Sans 1"/>
              </a:rPr>
              <a:t>About Us</a:t>
            </a:r>
          </a:p>
        </p:txBody>
      </p:sp>
      <p:sp>
        <p:nvSpPr>
          <p:cNvPr name="TextBox 16" id="16"/>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1"/>
                <a:ea typeface="Open Sans 1"/>
                <a:cs typeface="Open Sans 1"/>
                <a:sym typeface="Open Sans 1"/>
              </a:rPr>
              <a:t>Video</a:t>
            </a:r>
          </a:p>
        </p:txBody>
      </p:sp>
      <p:sp>
        <p:nvSpPr>
          <p:cNvPr name="TextBox 17" id="17"/>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1"/>
                <a:ea typeface="Open Sans 1"/>
                <a:cs typeface="Open Sans 1"/>
                <a:sym typeface="Open Sans 1"/>
              </a:rPr>
              <a:t>Home</a:t>
            </a:r>
          </a:p>
        </p:txBody>
      </p:sp>
      <p:sp>
        <p:nvSpPr>
          <p:cNvPr name="TextBox 18" id="18"/>
          <p:cNvSpPr txBox="true"/>
          <p:nvPr/>
        </p:nvSpPr>
        <p:spPr>
          <a:xfrm rot="0">
            <a:off x="17492295" y="9568113"/>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1 Bold"/>
                <a:ea typeface="Open Sans 1 Bold"/>
                <a:cs typeface="Open Sans 1 Bold"/>
                <a:sym typeface="Open Sans 1 Bold"/>
              </a:rPr>
              <a:t>02</a:t>
            </a:r>
          </a:p>
        </p:txBody>
      </p:sp>
      <p:sp>
        <p:nvSpPr>
          <p:cNvPr name="TextBox 19" id="19"/>
          <p:cNvSpPr txBox="true"/>
          <p:nvPr/>
        </p:nvSpPr>
        <p:spPr>
          <a:xfrm rot="0">
            <a:off x="6581477" y="2191938"/>
            <a:ext cx="5125045" cy="1395718"/>
          </a:xfrm>
          <a:prstGeom prst="rect">
            <a:avLst/>
          </a:prstGeom>
        </p:spPr>
        <p:txBody>
          <a:bodyPr anchor="t" rtlCol="false" tIns="0" lIns="0" bIns="0" rIns="0">
            <a:spAutoFit/>
          </a:bodyPr>
          <a:lstStyle/>
          <a:p>
            <a:pPr algn="ctr">
              <a:lnSpc>
                <a:spcPts val="10220"/>
              </a:lnSpc>
            </a:pPr>
            <a:r>
              <a:rPr lang="en-US" sz="7300">
                <a:solidFill>
                  <a:srgbClr val="FFFFFF"/>
                </a:solidFill>
                <a:latin typeface="Times New Roman MT"/>
                <a:ea typeface="Times New Roman MT"/>
                <a:cs typeface="Times New Roman MT"/>
                <a:sym typeface="Times New Roman MT"/>
              </a:rPr>
              <a:t>Introducción</a:t>
            </a:r>
          </a:p>
        </p:txBody>
      </p:sp>
      <p:sp>
        <p:nvSpPr>
          <p:cNvPr name="TextBox 20" id="20"/>
          <p:cNvSpPr txBox="true"/>
          <p:nvPr/>
        </p:nvSpPr>
        <p:spPr>
          <a:xfrm rot="0">
            <a:off x="2724993" y="3980934"/>
            <a:ext cx="13889746" cy="3434716"/>
          </a:xfrm>
          <a:prstGeom prst="rect">
            <a:avLst/>
          </a:prstGeom>
        </p:spPr>
        <p:txBody>
          <a:bodyPr anchor="t" rtlCol="false" tIns="0" lIns="0" bIns="0" rIns="0">
            <a:spAutoFit/>
          </a:bodyPr>
          <a:lstStyle/>
          <a:p>
            <a:pPr algn="just">
              <a:lnSpc>
                <a:spcPts val="4619"/>
              </a:lnSpc>
              <a:spcBef>
                <a:spcPct val="0"/>
              </a:spcBef>
            </a:pPr>
            <a:r>
              <a:rPr lang="en-US" sz="3299">
                <a:solidFill>
                  <a:srgbClr val="FFFFFF"/>
                </a:solidFill>
                <a:latin typeface="Times New Roman"/>
                <a:ea typeface="Times New Roman"/>
                <a:cs typeface="Times New Roman"/>
                <a:sym typeface="Times New Roman"/>
              </a:rPr>
              <a:t>Este proyecto implementa una API Web en ASP.NET que permite que un cliente como Postman o un navegador envíe solicitudes al servidor para consultar, registrar o procesar datos almacenados en SQL Server. La API actúa como intermediaria entre el cliente y la base de datos, devolviendo las respuestas en formato JSON y manejando toda la lógica del back-end.</a:t>
            </a:r>
          </a:p>
          <a:p>
            <a:pPr algn="just">
              <a:lnSpc>
                <a:spcPts val="4199"/>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1194B">
                <a:alpha val="100000"/>
              </a:srgbClr>
            </a:gs>
            <a:gs pos="100000">
              <a:srgbClr val="030117">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0302042" y="102870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alphaModFix amt="17000"/>
            </a:blip>
            <a:stretch>
              <a:fillRect l="0" t="0" r="0" b="0"/>
            </a:stretch>
          </a:blipFill>
        </p:spPr>
      </p:sp>
      <p:grpSp>
        <p:nvGrpSpPr>
          <p:cNvPr name="Group 3" id="3"/>
          <p:cNvGrpSpPr/>
          <p:nvPr/>
        </p:nvGrpSpPr>
        <p:grpSpPr>
          <a:xfrm rot="0">
            <a:off x="17293116" y="565634"/>
            <a:ext cx="397367" cy="28996"/>
            <a:chOff x="0" y="0"/>
            <a:chExt cx="128243" cy="9358"/>
          </a:xfrm>
        </p:grpSpPr>
        <p:sp>
          <p:nvSpPr>
            <p:cNvPr name="Freeform 4" id="4"/>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gradFill rotWithShape="true">
              <a:gsLst>
                <a:gs pos="0">
                  <a:srgbClr val="2CEEFF">
                    <a:alpha val="100000"/>
                  </a:srgbClr>
                </a:gs>
                <a:gs pos="100000">
                  <a:srgbClr val="0039A6">
                    <a:alpha val="100000"/>
                  </a:srgbClr>
                </a:gs>
              </a:gsLst>
              <a:lin ang="2700000"/>
            </a:gradFill>
          </p:spPr>
        </p:sp>
        <p:sp>
          <p:nvSpPr>
            <p:cNvPr name="TextBox 5" id="5"/>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7293116" y="657737"/>
            <a:ext cx="397367" cy="28996"/>
            <a:chOff x="0" y="0"/>
            <a:chExt cx="128243" cy="9358"/>
          </a:xfrm>
        </p:grpSpPr>
        <p:sp>
          <p:nvSpPr>
            <p:cNvPr name="Freeform 7" id="7"/>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gradFill rotWithShape="true">
              <a:gsLst>
                <a:gs pos="0">
                  <a:srgbClr val="2CEEFF">
                    <a:alpha val="100000"/>
                  </a:srgbClr>
                </a:gs>
                <a:gs pos="100000">
                  <a:srgbClr val="0039A6">
                    <a:alpha val="100000"/>
                  </a:srgbClr>
                </a:gs>
              </a:gsLst>
              <a:lin ang="2700000"/>
            </a:gradFill>
          </p:spPr>
        </p:sp>
        <p:sp>
          <p:nvSpPr>
            <p:cNvPr name="TextBox 8" id="8"/>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552392" y="453924"/>
            <a:ext cx="358281" cy="363569"/>
          </a:xfrm>
          <a:custGeom>
            <a:avLst/>
            <a:gdLst/>
            <a:ahLst/>
            <a:cxnLst/>
            <a:rect r="r" b="b" t="t" l="l"/>
            <a:pathLst>
              <a:path h="363569" w="358281">
                <a:moveTo>
                  <a:pt x="0" y="0"/>
                </a:moveTo>
                <a:lnTo>
                  <a:pt x="358281" y="0"/>
                </a:lnTo>
                <a:lnTo>
                  <a:pt x="358281" y="363570"/>
                </a:lnTo>
                <a:lnTo>
                  <a:pt x="0" y="3635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679594" y="546065"/>
            <a:ext cx="103876" cy="140719"/>
          </a:xfrm>
          <a:custGeom>
            <a:avLst/>
            <a:gdLst/>
            <a:ahLst/>
            <a:cxnLst/>
            <a:rect r="r" b="b" t="t" l="l"/>
            <a:pathLst>
              <a:path h="140719" w="103876">
                <a:moveTo>
                  <a:pt x="0" y="0"/>
                </a:moveTo>
                <a:lnTo>
                  <a:pt x="103877" y="0"/>
                </a:lnTo>
                <a:lnTo>
                  <a:pt x="103877" y="140719"/>
                </a:lnTo>
                <a:lnTo>
                  <a:pt x="0" y="1407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1" id="11"/>
          <p:cNvGrpSpPr/>
          <p:nvPr/>
        </p:nvGrpSpPr>
        <p:grpSpPr>
          <a:xfrm rot="0">
            <a:off x="17742214" y="7517955"/>
            <a:ext cx="47625" cy="1740345"/>
            <a:chOff x="0" y="0"/>
            <a:chExt cx="12543" cy="458362"/>
          </a:xfrm>
        </p:grpSpPr>
        <p:sp>
          <p:nvSpPr>
            <p:cNvPr name="Freeform 12" id="12"/>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2CEEFF">
                    <a:alpha val="100000"/>
                  </a:srgbClr>
                </a:gs>
                <a:gs pos="100000">
                  <a:srgbClr val="0039A6">
                    <a:alpha val="100000"/>
                  </a:srgbClr>
                </a:gs>
              </a:gsLst>
              <a:lin ang="2700000"/>
            </a:gradFill>
          </p:spPr>
        </p:sp>
        <p:sp>
          <p:nvSpPr>
            <p:cNvPr name="TextBox 13" id="13"/>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0" y="5143500"/>
            <a:ext cx="1039108" cy="5143500"/>
            <a:chOff x="0" y="0"/>
            <a:chExt cx="352887" cy="1746764"/>
          </a:xfrm>
        </p:grpSpPr>
        <p:sp>
          <p:nvSpPr>
            <p:cNvPr name="Freeform 15" id="15"/>
            <p:cNvSpPr/>
            <p:nvPr/>
          </p:nvSpPr>
          <p:spPr>
            <a:xfrm flipH="false" flipV="false" rot="0">
              <a:off x="0" y="0"/>
              <a:ext cx="352887" cy="1746764"/>
            </a:xfrm>
            <a:custGeom>
              <a:avLst/>
              <a:gdLst/>
              <a:ahLst/>
              <a:cxnLst/>
              <a:rect r="r" b="b" t="t" l="l"/>
              <a:pathLst>
                <a:path h="1746764" w="352887">
                  <a:moveTo>
                    <a:pt x="0" y="0"/>
                  </a:moveTo>
                  <a:lnTo>
                    <a:pt x="352887" y="0"/>
                  </a:lnTo>
                  <a:lnTo>
                    <a:pt x="352887" y="1746764"/>
                  </a:lnTo>
                  <a:lnTo>
                    <a:pt x="0" y="1746764"/>
                  </a:lnTo>
                  <a:close/>
                </a:path>
              </a:pathLst>
            </a:custGeom>
            <a:gradFill rotWithShape="true">
              <a:gsLst>
                <a:gs pos="0">
                  <a:srgbClr val="2CEEFF">
                    <a:alpha val="100000"/>
                  </a:srgbClr>
                </a:gs>
                <a:gs pos="100000">
                  <a:srgbClr val="0039A6">
                    <a:alpha val="100000"/>
                  </a:srgbClr>
                </a:gs>
              </a:gsLst>
              <a:lin ang="2700000"/>
            </a:gradFill>
          </p:spPr>
        </p:sp>
        <p:sp>
          <p:nvSpPr>
            <p:cNvPr name="TextBox 16" id="16"/>
            <p:cNvSpPr txBox="true"/>
            <p:nvPr/>
          </p:nvSpPr>
          <p:spPr>
            <a:xfrm>
              <a:off x="0" y="-28575"/>
              <a:ext cx="352887" cy="1775339"/>
            </a:xfrm>
            <a:prstGeom prst="rect">
              <a:avLst/>
            </a:prstGeom>
          </p:spPr>
          <p:txBody>
            <a:bodyPr anchor="ctr" rtlCol="false" tIns="50800" lIns="50800" bIns="50800" rIns="50800"/>
            <a:lstStyle/>
            <a:p>
              <a:pPr algn="ctr">
                <a:lnSpc>
                  <a:spcPts val="1960"/>
                </a:lnSpc>
              </a:pPr>
            </a:p>
          </p:txBody>
        </p:sp>
      </p:grpSp>
      <p:sp>
        <p:nvSpPr>
          <p:cNvPr name="Freeform 17" id="17"/>
          <p:cNvSpPr/>
          <p:nvPr/>
        </p:nvSpPr>
        <p:spPr>
          <a:xfrm flipH="false" flipV="false" rot="0">
            <a:off x="910673" y="2536344"/>
            <a:ext cx="10507792" cy="6147058"/>
          </a:xfrm>
          <a:custGeom>
            <a:avLst/>
            <a:gdLst/>
            <a:ahLst/>
            <a:cxnLst/>
            <a:rect r="r" b="b" t="t" l="l"/>
            <a:pathLst>
              <a:path h="6147058" w="10507792">
                <a:moveTo>
                  <a:pt x="0" y="0"/>
                </a:moveTo>
                <a:lnTo>
                  <a:pt x="10507792" y="0"/>
                </a:lnTo>
                <a:lnTo>
                  <a:pt x="10507792" y="6147058"/>
                </a:lnTo>
                <a:lnTo>
                  <a:pt x="0" y="6147058"/>
                </a:lnTo>
                <a:lnTo>
                  <a:pt x="0" y="0"/>
                </a:lnTo>
                <a:close/>
              </a:path>
            </a:pathLst>
          </a:custGeom>
          <a:blipFill>
            <a:blip r:embed="rId7">
              <a:alphaModFix amt="89000"/>
            </a:blip>
            <a:stretch>
              <a:fillRect l="0" t="0" r="0" b="0"/>
            </a:stretch>
          </a:blipFill>
        </p:spPr>
      </p:sp>
      <p:sp>
        <p:nvSpPr>
          <p:cNvPr name="TextBox 18" id="18"/>
          <p:cNvSpPr txBox="true"/>
          <p:nvPr/>
        </p:nvSpPr>
        <p:spPr>
          <a:xfrm rot="0">
            <a:off x="1039108" y="517674"/>
            <a:ext cx="1263019"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1"/>
                <a:ea typeface="Open Sans 1"/>
                <a:cs typeface="Open Sans 1"/>
                <a:sym typeface="Open Sans 1"/>
              </a:rPr>
              <a:t>Studio Shodwe</a:t>
            </a:r>
          </a:p>
        </p:txBody>
      </p:sp>
      <p:sp>
        <p:nvSpPr>
          <p:cNvPr name="TextBox 19" id="19"/>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1"/>
                <a:ea typeface="Open Sans 1"/>
                <a:cs typeface="Open Sans 1"/>
                <a:sym typeface="Open Sans 1"/>
              </a:rPr>
              <a:t>Contact</a:t>
            </a:r>
          </a:p>
        </p:txBody>
      </p:sp>
      <p:sp>
        <p:nvSpPr>
          <p:cNvPr name="TextBox 20" id="20"/>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1"/>
                <a:ea typeface="Open Sans 1"/>
                <a:cs typeface="Open Sans 1"/>
                <a:sym typeface="Open Sans 1"/>
              </a:rPr>
              <a:t>About Us</a:t>
            </a:r>
          </a:p>
        </p:txBody>
      </p:sp>
      <p:sp>
        <p:nvSpPr>
          <p:cNvPr name="TextBox 21" id="21"/>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1"/>
                <a:ea typeface="Open Sans 1"/>
                <a:cs typeface="Open Sans 1"/>
                <a:sym typeface="Open Sans 1"/>
              </a:rPr>
              <a:t>Video</a:t>
            </a:r>
          </a:p>
        </p:txBody>
      </p:sp>
      <p:sp>
        <p:nvSpPr>
          <p:cNvPr name="TextBox 22" id="22"/>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1"/>
                <a:ea typeface="Open Sans 1"/>
                <a:cs typeface="Open Sans 1"/>
                <a:sym typeface="Open Sans 1"/>
              </a:rPr>
              <a:t>Home</a:t>
            </a:r>
          </a:p>
        </p:txBody>
      </p:sp>
      <p:sp>
        <p:nvSpPr>
          <p:cNvPr name="TextBox 23" id="23"/>
          <p:cNvSpPr txBox="true"/>
          <p:nvPr/>
        </p:nvSpPr>
        <p:spPr>
          <a:xfrm rot="0">
            <a:off x="17492295" y="9568113"/>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1 Bold"/>
                <a:ea typeface="Open Sans 1 Bold"/>
                <a:cs typeface="Open Sans 1 Bold"/>
                <a:sym typeface="Open Sans 1 Bold"/>
              </a:rPr>
              <a:t>03</a:t>
            </a:r>
          </a:p>
        </p:txBody>
      </p:sp>
      <p:sp>
        <p:nvSpPr>
          <p:cNvPr name="TextBox 24" id="24"/>
          <p:cNvSpPr txBox="true"/>
          <p:nvPr/>
        </p:nvSpPr>
        <p:spPr>
          <a:xfrm rot="0">
            <a:off x="1399961" y="836544"/>
            <a:ext cx="7012893" cy="1291820"/>
          </a:xfrm>
          <a:prstGeom prst="rect">
            <a:avLst/>
          </a:prstGeom>
        </p:spPr>
        <p:txBody>
          <a:bodyPr anchor="t" rtlCol="false" tIns="0" lIns="0" bIns="0" rIns="0">
            <a:spAutoFit/>
          </a:bodyPr>
          <a:lstStyle/>
          <a:p>
            <a:pPr algn="l">
              <a:lnSpc>
                <a:spcPts val="10248"/>
              </a:lnSpc>
            </a:pPr>
            <a:r>
              <a:rPr lang="en-US" sz="8612">
                <a:solidFill>
                  <a:srgbClr val="29E2F9"/>
                </a:solidFill>
                <a:latin typeface="Anton"/>
                <a:ea typeface="Anton"/>
                <a:cs typeface="Anton"/>
                <a:sym typeface="Anton"/>
              </a:rPr>
              <a:t>DISEÑO WEB</a:t>
            </a:r>
          </a:p>
        </p:txBody>
      </p:sp>
      <p:sp>
        <p:nvSpPr>
          <p:cNvPr name="TextBox 25" id="25"/>
          <p:cNvSpPr txBox="true"/>
          <p:nvPr/>
        </p:nvSpPr>
        <p:spPr>
          <a:xfrm rot="0">
            <a:off x="11880859" y="2702479"/>
            <a:ext cx="6068869" cy="4472577"/>
          </a:xfrm>
          <a:prstGeom prst="rect">
            <a:avLst/>
          </a:prstGeom>
        </p:spPr>
        <p:txBody>
          <a:bodyPr anchor="t" rtlCol="false" tIns="0" lIns="0" bIns="0" rIns="0">
            <a:spAutoFit/>
          </a:bodyPr>
          <a:lstStyle/>
          <a:p>
            <a:pPr algn="ctr">
              <a:lnSpc>
                <a:spcPts val="5930"/>
              </a:lnSpc>
            </a:pPr>
            <a:r>
              <a:rPr lang="en-US" sz="4235">
                <a:solidFill>
                  <a:srgbClr val="FFFFFF"/>
                </a:solidFill>
                <a:latin typeface="Times New Roman"/>
                <a:ea typeface="Times New Roman"/>
                <a:cs typeface="Times New Roman"/>
                <a:sym typeface="Times New Roman"/>
              </a:rPr>
              <a:t>Al diseño web se le inplementaron una interfaz grafica amigable con el usuario, permitiendo hacer llamados depediendo de su selecion mediantes botones.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1194B">
                <a:alpha val="100000"/>
              </a:srgbClr>
            </a:gs>
            <a:gs pos="100000">
              <a:srgbClr val="030117">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0470741"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alphaModFix amt="17000"/>
            </a:blip>
            <a:stretch>
              <a:fillRect l="0" t="0" r="0" b="0"/>
            </a:stretch>
          </a:blipFill>
        </p:spPr>
      </p:sp>
      <p:grpSp>
        <p:nvGrpSpPr>
          <p:cNvPr name="Group 3" id="3"/>
          <p:cNvGrpSpPr/>
          <p:nvPr/>
        </p:nvGrpSpPr>
        <p:grpSpPr>
          <a:xfrm rot="0">
            <a:off x="17293116" y="565634"/>
            <a:ext cx="397367" cy="28996"/>
            <a:chOff x="0" y="0"/>
            <a:chExt cx="128243" cy="9358"/>
          </a:xfrm>
        </p:grpSpPr>
        <p:sp>
          <p:nvSpPr>
            <p:cNvPr name="Freeform 4" id="4"/>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gradFill rotWithShape="true">
              <a:gsLst>
                <a:gs pos="0">
                  <a:srgbClr val="2CEEFF">
                    <a:alpha val="100000"/>
                  </a:srgbClr>
                </a:gs>
                <a:gs pos="100000">
                  <a:srgbClr val="0039A6">
                    <a:alpha val="100000"/>
                  </a:srgbClr>
                </a:gs>
              </a:gsLst>
              <a:lin ang="2700000"/>
            </a:gradFill>
          </p:spPr>
        </p:sp>
        <p:sp>
          <p:nvSpPr>
            <p:cNvPr name="TextBox 5" id="5"/>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7293116" y="657737"/>
            <a:ext cx="397367" cy="28996"/>
            <a:chOff x="0" y="0"/>
            <a:chExt cx="128243" cy="9358"/>
          </a:xfrm>
        </p:grpSpPr>
        <p:sp>
          <p:nvSpPr>
            <p:cNvPr name="Freeform 7" id="7"/>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gradFill rotWithShape="true">
              <a:gsLst>
                <a:gs pos="0">
                  <a:srgbClr val="2CEEFF">
                    <a:alpha val="100000"/>
                  </a:srgbClr>
                </a:gs>
                <a:gs pos="100000">
                  <a:srgbClr val="0039A6">
                    <a:alpha val="100000"/>
                  </a:srgbClr>
                </a:gs>
              </a:gsLst>
              <a:lin ang="2700000"/>
            </a:gradFill>
          </p:spPr>
        </p:sp>
        <p:sp>
          <p:nvSpPr>
            <p:cNvPr name="TextBox 8" id="8"/>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552392" y="453924"/>
            <a:ext cx="358281" cy="363569"/>
          </a:xfrm>
          <a:custGeom>
            <a:avLst/>
            <a:gdLst/>
            <a:ahLst/>
            <a:cxnLst/>
            <a:rect r="r" b="b" t="t" l="l"/>
            <a:pathLst>
              <a:path h="363569" w="358281">
                <a:moveTo>
                  <a:pt x="0" y="0"/>
                </a:moveTo>
                <a:lnTo>
                  <a:pt x="358281" y="0"/>
                </a:lnTo>
                <a:lnTo>
                  <a:pt x="358281" y="363570"/>
                </a:lnTo>
                <a:lnTo>
                  <a:pt x="0" y="3635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17742214" y="7517955"/>
            <a:ext cx="47625" cy="1740345"/>
            <a:chOff x="0" y="0"/>
            <a:chExt cx="12543" cy="458362"/>
          </a:xfrm>
        </p:grpSpPr>
        <p:sp>
          <p:nvSpPr>
            <p:cNvPr name="Freeform 11" id="11"/>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2CEEFF">
                    <a:alpha val="100000"/>
                  </a:srgbClr>
                </a:gs>
                <a:gs pos="100000">
                  <a:srgbClr val="0039A6">
                    <a:alpha val="100000"/>
                  </a:srgbClr>
                </a:gs>
              </a:gsLst>
              <a:lin ang="2700000"/>
            </a:gradFill>
          </p:spPr>
        </p:sp>
        <p:sp>
          <p:nvSpPr>
            <p:cNvPr name="TextBox 12" id="12"/>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3287774" y="1733349"/>
            <a:ext cx="11712452" cy="8273393"/>
          </a:xfrm>
          <a:custGeom>
            <a:avLst/>
            <a:gdLst/>
            <a:ahLst/>
            <a:cxnLst/>
            <a:rect r="r" b="b" t="t" l="l"/>
            <a:pathLst>
              <a:path h="8273393" w="11712452">
                <a:moveTo>
                  <a:pt x="0" y="0"/>
                </a:moveTo>
                <a:lnTo>
                  <a:pt x="11712452" y="0"/>
                </a:lnTo>
                <a:lnTo>
                  <a:pt x="11712452" y="8273393"/>
                </a:lnTo>
                <a:lnTo>
                  <a:pt x="0" y="8273393"/>
                </a:lnTo>
                <a:lnTo>
                  <a:pt x="0" y="0"/>
                </a:lnTo>
                <a:close/>
              </a:path>
            </a:pathLst>
          </a:custGeom>
          <a:blipFill>
            <a:blip r:embed="rId5"/>
            <a:stretch>
              <a:fillRect l="0" t="0" r="0" b="0"/>
            </a:stretch>
          </a:blipFill>
        </p:spPr>
      </p:sp>
      <p:sp>
        <p:nvSpPr>
          <p:cNvPr name="TextBox 14" id="14"/>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1"/>
                <a:ea typeface="Open Sans 1"/>
                <a:cs typeface="Open Sans 1"/>
                <a:sym typeface="Open Sans 1"/>
              </a:rPr>
              <a:t>Contact</a:t>
            </a:r>
          </a:p>
        </p:txBody>
      </p:sp>
      <p:sp>
        <p:nvSpPr>
          <p:cNvPr name="TextBox 15" id="15"/>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1"/>
                <a:ea typeface="Open Sans 1"/>
                <a:cs typeface="Open Sans 1"/>
                <a:sym typeface="Open Sans 1"/>
              </a:rPr>
              <a:t>About Us</a:t>
            </a:r>
          </a:p>
        </p:txBody>
      </p:sp>
      <p:sp>
        <p:nvSpPr>
          <p:cNvPr name="TextBox 16" id="16"/>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1"/>
                <a:ea typeface="Open Sans 1"/>
                <a:cs typeface="Open Sans 1"/>
                <a:sym typeface="Open Sans 1"/>
              </a:rPr>
              <a:t>Video</a:t>
            </a:r>
          </a:p>
        </p:txBody>
      </p:sp>
      <p:sp>
        <p:nvSpPr>
          <p:cNvPr name="TextBox 17" id="17"/>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1"/>
                <a:ea typeface="Open Sans 1"/>
                <a:cs typeface="Open Sans 1"/>
                <a:sym typeface="Open Sans 1"/>
              </a:rPr>
              <a:t>Home</a:t>
            </a:r>
          </a:p>
        </p:txBody>
      </p:sp>
      <p:sp>
        <p:nvSpPr>
          <p:cNvPr name="TextBox 18" id="18"/>
          <p:cNvSpPr txBox="true"/>
          <p:nvPr/>
        </p:nvSpPr>
        <p:spPr>
          <a:xfrm rot="0">
            <a:off x="17492295" y="9568113"/>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1 Bold"/>
                <a:ea typeface="Open Sans 1 Bold"/>
                <a:cs typeface="Open Sans 1 Bold"/>
                <a:sym typeface="Open Sans 1 Bold"/>
              </a:rPr>
              <a:t>04</a:t>
            </a:r>
          </a:p>
        </p:txBody>
      </p:sp>
      <p:sp>
        <p:nvSpPr>
          <p:cNvPr name="TextBox 19" id="19"/>
          <p:cNvSpPr txBox="true"/>
          <p:nvPr/>
        </p:nvSpPr>
        <p:spPr>
          <a:xfrm rot="0">
            <a:off x="1117591" y="330099"/>
            <a:ext cx="9824343" cy="2432038"/>
          </a:xfrm>
          <a:prstGeom prst="rect">
            <a:avLst/>
          </a:prstGeom>
        </p:spPr>
        <p:txBody>
          <a:bodyPr anchor="t" rtlCol="false" tIns="0" lIns="0" bIns="0" rIns="0">
            <a:spAutoFit/>
          </a:bodyPr>
          <a:lstStyle/>
          <a:p>
            <a:pPr algn="ctr">
              <a:lnSpc>
                <a:spcPts val="9100"/>
              </a:lnSpc>
            </a:pPr>
            <a:r>
              <a:rPr lang="en-US" sz="6500" b="true">
                <a:solidFill>
                  <a:srgbClr val="FFFFFF"/>
                </a:solidFill>
                <a:latin typeface="Playfair Display Bold"/>
                <a:ea typeface="Playfair Display Bold"/>
                <a:cs typeface="Playfair Display Bold"/>
                <a:sym typeface="Playfair Display Bold"/>
              </a:rPr>
              <a:t>Diagrama de arquitectura</a:t>
            </a:r>
          </a:p>
          <a:p>
            <a:pPr algn="ctr">
              <a:lnSpc>
                <a:spcPts val="10500"/>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1194B">
                <a:alpha val="100000"/>
              </a:srgbClr>
            </a:gs>
            <a:gs pos="100000">
              <a:srgbClr val="030117">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0470741"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alphaModFix amt="17000"/>
            </a:blip>
            <a:stretch>
              <a:fillRect l="0" t="0" r="0" b="0"/>
            </a:stretch>
          </a:blipFill>
        </p:spPr>
      </p:sp>
      <p:grpSp>
        <p:nvGrpSpPr>
          <p:cNvPr name="Group 3" id="3"/>
          <p:cNvGrpSpPr/>
          <p:nvPr/>
        </p:nvGrpSpPr>
        <p:grpSpPr>
          <a:xfrm rot="0">
            <a:off x="17293116" y="565634"/>
            <a:ext cx="397367" cy="28996"/>
            <a:chOff x="0" y="0"/>
            <a:chExt cx="128243" cy="9358"/>
          </a:xfrm>
        </p:grpSpPr>
        <p:sp>
          <p:nvSpPr>
            <p:cNvPr name="Freeform 4" id="4"/>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gradFill rotWithShape="true">
              <a:gsLst>
                <a:gs pos="0">
                  <a:srgbClr val="2CEEFF">
                    <a:alpha val="100000"/>
                  </a:srgbClr>
                </a:gs>
                <a:gs pos="100000">
                  <a:srgbClr val="0039A6">
                    <a:alpha val="100000"/>
                  </a:srgbClr>
                </a:gs>
              </a:gsLst>
              <a:lin ang="2700000"/>
            </a:gradFill>
          </p:spPr>
        </p:sp>
        <p:sp>
          <p:nvSpPr>
            <p:cNvPr name="TextBox 5" id="5"/>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7293116" y="657737"/>
            <a:ext cx="397367" cy="28996"/>
            <a:chOff x="0" y="0"/>
            <a:chExt cx="128243" cy="9358"/>
          </a:xfrm>
        </p:grpSpPr>
        <p:sp>
          <p:nvSpPr>
            <p:cNvPr name="Freeform 7" id="7"/>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gradFill rotWithShape="true">
              <a:gsLst>
                <a:gs pos="0">
                  <a:srgbClr val="2CEEFF">
                    <a:alpha val="100000"/>
                  </a:srgbClr>
                </a:gs>
                <a:gs pos="100000">
                  <a:srgbClr val="0039A6">
                    <a:alpha val="100000"/>
                  </a:srgbClr>
                </a:gs>
              </a:gsLst>
              <a:lin ang="2700000"/>
            </a:gradFill>
          </p:spPr>
        </p:sp>
        <p:sp>
          <p:nvSpPr>
            <p:cNvPr name="TextBox 8" id="8"/>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552392" y="453924"/>
            <a:ext cx="358281" cy="363569"/>
          </a:xfrm>
          <a:custGeom>
            <a:avLst/>
            <a:gdLst/>
            <a:ahLst/>
            <a:cxnLst/>
            <a:rect r="r" b="b" t="t" l="l"/>
            <a:pathLst>
              <a:path h="363569" w="358281">
                <a:moveTo>
                  <a:pt x="0" y="0"/>
                </a:moveTo>
                <a:lnTo>
                  <a:pt x="358281" y="0"/>
                </a:lnTo>
                <a:lnTo>
                  <a:pt x="358281" y="363570"/>
                </a:lnTo>
                <a:lnTo>
                  <a:pt x="0" y="3635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17742214" y="7517955"/>
            <a:ext cx="47625" cy="1740345"/>
            <a:chOff x="0" y="0"/>
            <a:chExt cx="12543" cy="458362"/>
          </a:xfrm>
        </p:grpSpPr>
        <p:sp>
          <p:nvSpPr>
            <p:cNvPr name="Freeform 11" id="11"/>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2CEEFF">
                    <a:alpha val="100000"/>
                  </a:srgbClr>
                </a:gs>
                <a:gs pos="100000">
                  <a:srgbClr val="0039A6">
                    <a:alpha val="100000"/>
                  </a:srgbClr>
                </a:gs>
              </a:gsLst>
              <a:lin ang="2700000"/>
            </a:gradFill>
          </p:spPr>
        </p:sp>
        <p:sp>
          <p:nvSpPr>
            <p:cNvPr name="TextBox 12" id="12"/>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8391349" y="453924"/>
            <a:ext cx="8361706" cy="9571356"/>
          </a:xfrm>
          <a:custGeom>
            <a:avLst/>
            <a:gdLst/>
            <a:ahLst/>
            <a:cxnLst/>
            <a:rect r="r" b="b" t="t" l="l"/>
            <a:pathLst>
              <a:path h="9571356" w="8361706">
                <a:moveTo>
                  <a:pt x="0" y="0"/>
                </a:moveTo>
                <a:lnTo>
                  <a:pt x="8361706" y="0"/>
                </a:lnTo>
                <a:lnTo>
                  <a:pt x="8361706" y="9571356"/>
                </a:lnTo>
                <a:lnTo>
                  <a:pt x="0" y="9571356"/>
                </a:lnTo>
                <a:lnTo>
                  <a:pt x="0" y="0"/>
                </a:lnTo>
                <a:close/>
              </a:path>
            </a:pathLst>
          </a:custGeom>
          <a:blipFill>
            <a:blip r:embed="rId5"/>
            <a:stretch>
              <a:fillRect l="0" t="0" r="0" b="0"/>
            </a:stretch>
          </a:blipFill>
        </p:spPr>
      </p:sp>
      <p:sp>
        <p:nvSpPr>
          <p:cNvPr name="TextBox 14" id="14"/>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1"/>
                <a:ea typeface="Open Sans 1"/>
                <a:cs typeface="Open Sans 1"/>
                <a:sym typeface="Open Sans 1"/>
              </a:rPr>
              <a:t>Contact</a:t>
            </a:r>
          </a:p>
        </p:txBody>
      </p:sp>
      <p:sp>
        <p:nvSpPr>
          <p:cNvPr name="TextBox 15" id="15"/>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1"/>
                <a:ea typeface="Open Sans 1"/>
                <a:cs typeface="Open Sans 1"/>
                <a:sym typeface="Open Sans 1"/>
              </a:rPr>
              <a:t>About Us</a:t>
            </a:r>
          </a:p>
        </p:txBody>
      </p:sp>
      <p:sp>
        <p:nvSpPr>
          <p:cNvPr name="TextBox 16" id="16"/>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1"/>
                <a:ea typeface="Open Sans 1"/>
                <a:cs typeface="Open Sans 1"/>
                <a:sym typeface="Open Sans 1"/>
              </a:rPr>
              <a:t>Video</a:t>
            </a:r>
          </a:p>
        </p:txBody>
      </p:sp>
      <p:sp>
        <p:nvSpPr>
          <p:cNvPr name="TextBox 17" id="17"/>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1"/>
                <a:ea typeface="Open Sans 1"/>
                <a:cs typeface="Open Sans 1"/>
                <a:sym typeface="Open Sans 1"/>
              </a:rPr>
              <a:t>Home</a:t>
            </a:r>
          </a:p>
        </p:txBody>
      </p:sp>
      <p:sp>
        <p:nvSpPr>
          <p:cNvPr name="TextBox 18" id="18"/>
          <p:cNvSpPr txBox="true"/>
          <p:nvPr/>
        </p:nvSpPr>
        <p:spPr>
          <a:xfrm rot="0">
            <a:off x="17492295" y="9568113"/>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1 Bold"/>
                <a:ea typeface="Open Sans 1 Bold"/>
                <a:cs typeface="Open Sans 1 Bold"/>
                <a:sym typeface="Open Sans 1 Bold"/>
              </a:rPr>
              <a:t>04</a:t>
            </a:r>
          </a:p>
        </p:txBody>
      </p:sp>
      <p:sp>
        <p:nvSpPr>
          <p:cNvPr name="TextBox 19" id="19"/>
          <p:cNvSpPr txBox="true"/>
          <p:nvPr/>
        </p:nvSpPr>
        <p:spPr>
          <a:xfrm rot="0">
            <a:off x="0" y="1287329"/>
            <a:ext cx="7851288" cy="2195360"/>
          </a:xfrm>
          <a:prstGeom prst="rect">
            <a:avLst/>
          </a:prstGeom>
        </p:spPr>
        <p:txBody>
          <a:bodyPr anchor="t" rtlCol="false" tIns="0" lIns="0" bIns="0" rIns="0">
            <a:spAutoFit/>
          </a:bodyPr>
          <a:lstStyle/>
          <a:p>
            <a:pPr algn="ctr">
              <a:lnSpc>
                <a:spcPts val="8823"/>
              </a:lnSpc>
            </a:pPr>
            <a:r>
              <a:rPr lang="en-US" sz="6302" b="true">
                <a:solidFill>
                  <a:srgbClr val="FFFFFF"/>
                </a:solidFill>
                <a:latin typeface="Open Sans 2 Bold"/>
                <a:ea typeface="Open Sans 2 Bold"/>
                <a:cs typeface="Open Sans 2 Bold"/>
                <a:sym typeface="Open Sans 2 Bold"/>
              </a:rPr>
              <a:t>LLamados en Postman </a:t>
            </a:r>
          </a:p>
        </p:txBody>
      </p:sp>
      <p:sp>
        <p:nvSpPr>
          <p:cNvPr name="TextBox 20" id="20"/>
          <p:cNvSpPr txBox="true"/>
          <p:nvPr/>
        </p:nvSpPr>
        <p:spPr>
          <a:xfrm rot="0">
            <a:off x="0" y="4459031"/>
            <a:ext cx="7851288" cy="2108237"/>
          </a:xfrm>
          <a:prstGeom prst="rect">
            <a:avLst/>
          </a:prstGeom>
        </p:spPr>
        <p:txBody>
          <a:bodyPr anchor="t" rtlCol="false" tIns="0" lIns="0" bIns="0" rIns="0">
            <a:spAutoFit/>
          </a:bodyPr>
          <a:lstStyle/>
          <a:p>
            <a:pPr algn="ctr">
              <a:lnSpc>
                <a:spcPts val="5597"/>
              </a:lnSpc>
            </a:pPr>
            <a:r>
              <a:rPr lang="en-US" sz="3998">
                <a:solidFill>
                  <a:srgbClr val="FFFFFF"/>
                </a:solidFill>
                <a:latin typeface="Times New Roman"/>
                <a:ea typeface="Times New Roman"/>
                <a:cs typeface="Times New Roman"/>
                <a:sym typeface="Times New Roman"/>
              </a:rPr>
              <a:t>Los llamados en Postman</a:t>
            </a:r>
          </a:p>
          <a:p>
            <a:pPr algn="ctr">
              <a:lnSpc>
                <a:spcPts val="5597"/>
              </a:lnSpc>
            </a:pPr>
            <a:r>
              <a:rPr lang="en-US" sz="3998">
                <a:solidFill>
                  <a:srgbClr val="FFFFFF"/>
                </a:solidFill>
                <a:latin typeface="Times New Roman"/>
                <a:ea typeface="Times New Roman"/>
                <a:cs typeface="Times New Roman"/>
                <a:sym typeface="Times New Roman"/>
              </a:rPr>
              <a:t>mas que nada son para verificar las conexiones y peticiones y  response.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1194B">
                <a:alpha val="100000"/>
              </a:srgbClr>
            </a:gs>
            <a:gs pos="100000">
              <a:srgbClr val="030117">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809297" y="1762699"/>
            <a:ext cx="8619639" cy="7090115"/>
          </a:xfrm>
          <a:custGeom>
            <a:avLst/>
            <a:gdLst/>
            <a:ahLst/>
            <a:cxnLst/>
            <a:rect r="r" b="b" t="t" l="l"/>
            <a:pathLst>
              <a:path h="7090115" w="8619639">
                <a:moveTo>
                  <a:pt x="0" y="0"/>
                </a:moveTo>
                <a:lnTo>
                  <a:pt x="8619639" y="0"/>
                </a:lnTo>
                <a:lnTo>
                  <a:pt x="8619639" y="7090114"/>
                </a:lnTo>
                <a:lnTo>
                  <a:pt x="0" y="7090114"/>
                </a:lnTo>
                <a:lnTo>
                  <a:pt x="0" y="0"/>
                </a:lnTo>
                <a:close/>
              </a:path>
            </a:pathLst>
          </a:custGeom>
          <a:blipFill>
            <a:blip r:embed="rId2"/>
            <a:stretch>
              <a:fillRect l="0" t="-4205" r="0" b="0"/>
            </a:stretch>
          </a:blipFill>
        </p:spPr>
      </p:sp>
      <p:sp>
        <p:nvSpPr>
          <p:cNvPr name="TextBox 3" id="3"/>
          <p:cNvSpPr txBox="true"/>
          <p:nvPr/>
        </p:nvSpPr>
        <p:spPr>
          <a:xfrm rot="0">
            <a:off x="9693529" y="1411150"/>
            <a:ext cx="8242970" cy="2136626"/>
          </a:xfrm>
          <a:prstGeom prst="rect">
            <a:avLst/>
          </a:prstGeom>
        </p:spPr>
        <p:txBody>
          <a:bodyPr anchor="t" rtlCol="false" tIns="0" lIns="0" bIns="0" rIns="0">
            <a:spAutoFit/>
          </a:bodyPr>
          <a:lstStyle/>
          <a:p>
            <a:pPr algn="ctr">
              <a:lnSpc>
                <a:spcPts val="8480"/>
              </a:lnSpc>
            </a:pPr>
            <a:r>
              <a:rPr lang="en-US" sz="6057">
                <a:solidFill>
                  <a:srgbClr val="FFFFFF"/>
                </a:solidFill>
                <a:latin typeface="Times New Roman"/>
                <a:ea typeface="Times New Roman"/>
                <a:cs typeface="Times New Roman"/>
                <a:sym typeface="Times New Roman"/>
              </a:rPr>
              <a:t>Modelo Calculo (API)</a:t>
            </a:r>
          </a:p>
          <a:p>
            <a:pPr algn="ctr">
              <a:lnSpc>
                <a:spcPts val="8480"/>
              </a:lnSpc>
              <a:spcBef>
                <a:spcPct val="0"/>
              </a:spcBef>
            </a:pPr>
          </a:p>
        </p:txBody>
      </p:sp>
      <p:sp>
        <p:nvSpPr>
          <p:cNvPr name="TextBox 4" id="4"/>
          <p:cNvSpPr txBox="true"/>
          <p:nvPr/>
        </p:nvSpPr>
        <p:spPr>
          <a:xfrm rot="0">
            <a:off x="9693529" y="3462050"/>
            <a:ext cx="8810813" cy="4056533"/>
          </a:xfrm>
          <a:prstGeom prst="rect">
            <a:avLst/>
          </a:prstGeom>
        </p:spPr>
        <p:txBody>
          <a:bodyPr anchor="t" rtlCol="false" tIns="0" lIns="0" bIns="0" rIns="0">
            <a:spAutoFit/>
          </a:bodyPr>
          <a:lstStyle/>
          <a:p>
            <a:pPr algn="ctr">
              <a:lnSpc>
                <a:spcPts val="4632"/>
              </a:lnSpc>
              <a:spcBef>
                <a:spcPct val="0"/>
              </a:spcBef>
            </a:pPr>
            <a:r>
              <a:rPr lang="en-US" sz="3308">
                <a:solidFill>
                  <a:srgbClr val="FFFFFF"/>
                </a:solidFill>
                <a:latin typeface="Times New Roman"/>
                <a:ea typeface="Times New Roman"/>
                <a:cs typeface="Times New Roman"/>
                <a:sym typeface="Times New Roman"/>
              </a:rPr>
              <a:t>El modelo Calculo define la estructura de datos usada por la API para registrar operaciones realizadas. Contiene un ID que identifica cada registro, el nombre de la operación ejecutada, el resultado obtenido, un campo para clasificar el tipo de cálculo y una fecha que indica el momento en que se generó o almacenó la información.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1194B">
                <a:alpha val="100000"/>
              </a:srgbClr>
            </a:gs>
            <a:gs pos="100000">
              <a:srgbClr val="030117">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8353141" y="1028700"/>
            <a:ext cx="9188824" cy="8366295"/>
          </a:xfrm>
          <a:custGeom>
            <a:avLst/>
            <a:gdLst/>
            <a:ahLst/>
            <a:cxnLst/>
            <a:rect r="r" b="b" t="t" l="l"/>
            <a:pathLst>
              <a:path h="8366295" w="9188824">
                <a:moveTo>
                  <a:pt x="0" y="0"/>
                </a:moveTo>
                <a:lnTo>
                  <a:pt x="9188824" y="0"/>
                </a:lnTo>
                <a:lnTo>
                  <a:pt x="9188824" y="8366295"/>
                </a:lnTo>
                <a:lnTo>
                  <a:pt x="0" y="8366295"/>
                </a:lnTo>
                <a:lnTo>
                  <a:pt x="0" y="0"/>
                </a:lnTo>
                <a:close/>
              </a:path>
            </a:pathLst>
          </a:custGeom>
          <a:blipFill>
            <a:blip r:embed="rId2"/>
            <a:stretch>
              <a:fillRect l="0" t="0" r="0" b="0"/>
            </a:stretch>
          </a:blipFill>
        </p:spPr>
      </p:sp>
      <p:sp>
        <p:nvSpPr>
          <p:cNvPr name="TextBox 3" id="3"/>
          <p:cNvSpPr txBox="true"/>
          <p:nvPr/>
        </p:nvSpPr>
        <p:spPr>
          <a:xfrm rot="0">
            <a:off x="414477" y="1285807"/>
            <a:ext cx="6784821" cy="1951357"/>
          </a:xfrm>
          <a:prstGeom prst="rect">
            <a:avLst/>
          </a:prstGeom>
        </p:spPr>
        <p:txBody>
          <a:bodyPr anchor="t" rtlCol="false" tIns="0" lIns="0" bIns="0" rIns="0">
            <a:spAutoFit/>
          </a:bodyPr>
          <a:lstStyle/>
          <a:p>
            <a:pPr algn="ctr">
              <a:lnSpc>
                <a:spcPts val="7419"/>
              </a:lnSpc>
              <a:spcBef>
                <a:spcPct val="0"/>
              </a:spcBef>
            </a:pPr>
            <a:r>
              <a:rPr lang="en-US" sz="5299">
                <a:solidFill>
                  <a:srgbClr val="FFFFFF"/>
                </a:solidFill>
                <a:latin typeface="Times New Roman MT"/>
                <a:ea typeface="Times New Roman MT"/>
                <a:cs typeface="Times New Roman MT"/>
                <a:sym typeface="Times New Roman MT"/>
              </a:rPr>
              <a:t>Datos obtenidos y enviados al response</a:t>
            </a:r>
          </a:p>
        </p:txBody>
      </p:sp>
      <p:sp>
        <p:nvSpPr>
          <p:cNvPr name="TextBox 4" id="4"/>
          <p:cNvSpPr txBox="true"/>
          <p:nvPr/>
        </p:nvSpPr>
        <p:spPr>
          <a:xfrm rot="0">
            <a:off x="414477" y="3612372"/>
            <a:ext cx="7725251" cy="4838817"/>
          </a:xfrm>
          <a:prstGeom prst="rect">
            <a:avLst/>
          </a:prstGeom>
        </p:spPr>
        <p:txBody>
          <a:bodyPr anchor="t" rtlCol="false" tIns="0" lIns="0" bIns="0" rIns="0">
            <a:spAutoFit/>
          </a:bodyPr>
          <a:lstStyle/>
          <a:p>
            <a:pPr algn="ctr">
              <a:lnSpc>
                <a:spcPts val="4815"/>
              </a:lnSpc>
            </a:pPr>
            <a:r>
              <a:rPr lang="en-US" sz="3439">
                <a:solidFill>
                  <a:srgbClr val="FFFFFF"/>
                </a:solidFill>
                <a:latin typeface="Times New Roman"/>
                <a:ea typeface="Times New Roman"/>
                <a:cs typeface="Times New Roman"/>
                <a:sym typeface="Times New Roman"/>
              </a:rPr>
              <a:t>El códi</a:t>
            </a:r>
            <a:r>
              <a:rPr lang="en-US" sz="3439">
                <a:solidFill>
                  <a:srgbClr val="FFFFFF"/>
                </a:solidFill>
                <a:latin typeface="Times New Roman"/>
                <a:ea typeface="Times New Roman"/>
                <a:cs typeface="Times New Roman"/>
                <a:sym typeface="Times New Roman"/>
              </a:rPr>
              <a:t>go define endpoints GET que devuelven listas filtradas de cálculos según el tipo de operación. Cada acción tiene un nombre asignado y llama internamente a un método común que obtiene los registros por tipo. “Sumas” devuelve cálculos de suma, “Restas” los de resta y “Multiplicaciones” los de multiplicación.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1194B">
                <a:alpha val="100000"/>
              </a:srgbClr>
            </a:gs>
            <a:gs pos="100000">
              <a:srgbClr val="030117">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2335564" y="1829935"/>
            <a:ext cx="13616871" cy="4521017"/>
          </a:xfrm>
          <a:custGeom>
            <a:avLst/>
            <a:gdLst/>
            <a:ahLst/>
            <a:cxnLst/>
            <a:rect r="r" b="b" t="t" l="l"/>
            <a:pathLst>
              <a:path h="4521017" w="13616871">
                <a:moveTo>
                  <a:pt x="0" y="0"/>
                </a:moveTo>
                <a:lnTo>
                  <a:pt x="13616872" y="0"/>
                </a:lnTo>
                <a:lnTo>
                  <a:pt x="13616872" y="4521017"/>
                </a:lnTo>
                <a:lnTo>
                  <a:pt x="0" y="4521017"/>
                </a:lnTo>
                <a:lnTo>
                  <a:pt x="0" y="0"/>
                </a:lnTo>
                <a:close/>
              </a:path>
            </a:pathLst>
          </a:custGeom>
          <a:blipFill>
            <a:blip r:embed="rId2"/>
            <a:stretch>
              <a:fillRect l="-12537" t="-73307" r="-11546" b="-16360"/>
            </a:stretch>
          </a:blipFill>
        </p:spPr>
      </p:sp>
      <p:sp>
        <p:nvSpPr>
          <p:cNvPr name="TextBox 3" id="3"/>
          <p:cNvSpPr txBox="true"/>
          <p:nvPr/>
        </p:nvSpPr>
        <p:spPr>
          <a:xfrm rot="0">
            <a:off x="2541858" y="621982"/>
            <a:ext cx="14280654" cy="932182"/>
          </a:xfrm>
          <a:prstGeom prst="rect">
            <a:avLst/>
          </a:prstGeom>
        </p:spPr>
        <p:txBody>
          <a:bodyPr anchor="t" rtlCol="false" tIns="0" lIns="0" bIns="0" rIns="0">
            <a:spAutoFit/>
          </a:bodyPr>
          <a:lstStyle/>
          <a:p>
            <a:pPr algn="ctr">
              <a:lnSpc>
                <a:spcPts val="7419"/>
              </a:lnSpc>
              <a:spcBef>
                <a:spcPct val="0"/>
              </a:spcBef>
            </a:pPr>
            <a:r>
              <a:rPr lang="en-US" sz="5299">
                <a:solidFill>
                  <a:srgbClr val="FFFFFF"/>
                </a:solidFill>
                <a:latin typeface="Times New Roman"/>
                <a:ea typeface="Times New Roman"/>
                <a:cs typeface="Times New Roman"/>
                <a:sym typeface="Times New Roman"/>
              </a:rPr>
              <a:t>Conexion  y llamados de los datos a la base de datos </a:t>
            </a:r>
          </a:p>
        </p:txBody>
      </p:sp>
      <p:sp>
        <p:nvSpPr>
          <p:cNvPr name="TextBox 4" id="4"/>
          <p:cNvSpPr txBox="true"/>
          <p:nvPr/>
        </p:nvSpPr>
        <p:spPr>
          <a:xfrm rot="0">
            <a:off x="1380582" y="6789102"/>
            <a:ext cx="15526837" cy="2213374"/>
          </a:xfrm>
          <a:prstGeom prst="rect">
            <a:avLst/>
          </a:prstGeom>
        </p:spPr>
        <p:txBody>
          <a:bodyPr anchor="t" rtlCol="false" tIns="0" lIns="0" bIns="0" rIns="0">
            <a:spAutoFit/>
          </a:bodyPr>
          <a:lstStyle/>
          <a:p>
            <a:pPr algn="ctr">
              <a:lnSpc>
                <a:spcPts val="4353"/>
              </a:lnSpc>
            </a:pPr>
            <a:r>
              <a:rPr lang="en-US" sz="3109">
                <a:solidFill>
                  <a:srgbClr val="FFFFFF"/>
                </a:solidFill>
                <a:latin typeface="Times New Roman"/>
                <a:ea typeface="Times New Roman"/>
                <a:cs typeface="Times New Roman"/>
                <a:sym typeface="Times New Roman"/>
              </a:rPr>
              <a:t>Este código establece una conexión se</a:t>
            </a:r>
            <a:r>
              <a:rPr lang="en-US" sz="3109">
                <a:solidFill>
                  <a:srgbClr val="FFFFFF"/>
                </a:solidFill>
                <a:latin typeface="Times New Roman"/>
                <a:ea typeface="Times New Roman"/>
                <a:cs typeface="Times New Roman"/>
                <a:sym typeface="Times New Roman"/>
              </a:rPr>
              <a:t>gura con la base de datos (gestionada por el bloque using), ejecuta una consulta SQL optimizada para recuperar solo los cinco registros más recientes y, finalmente, utiliza el lector de datos para transformar cada fila del resultado en un objeto C# de tipo Calculo antes de retornarlo.</a:t>
            </a:r>
          </a:p>
        </p:txBody>
      </p:sp>
    </p:spTree>
  </p:cSld>
  <p:clrMapOvr>
    <a:masterClrMapping/>
  </p:clrMapOvr>
</p:sld>
</file>

<file path=ppt/slides/slide9.xml><?xml version="1.0" encoding="utf-8"?>
<p:sld xmlns:p="http://schemas.openxmlformats.org/presentationml/2006/main" xmlns:a="http://schemas.openxmlformats.org/drawingml/2006/main">
  <p:cSld>
    <p:bg>
      <p:bgPr>
        <a:gradFill rotWithShape="true">
          <a:gsLst>
            <a:gs pos="0">
              <a:srgbClr val="01194B">
                <a:alpha val="100000"/>
              </a:srgbClr>
            </a:gs>
            <a:gs pos="100000">
              <a:srgbClr val="030117">
                <a:alpha val="100000"/>
              </a:srgbClr>
            </a:gs>
          </a:gsLst>
          <a:lin ang="2700000"/>
        </a:gradFill>
      </p:bgPr>
    </p:bg>
    <p:spTree>
      <p:nvGrpSpPr>
        <p:cNvPr id="1" name=""/>
        <p:cNvGrpSpPr/>
        <p:nvPr/>
      </p:nvGrpSpPr>
      <p:grpSpPr>
        <a:xfrm>
          <a:off x="0" y="0"/>
          <a:ext cx="0" cy="0"/>
          <a:chOff x="0" y="0"/>
          <a:chExt cx="0" cy="0"/>
        </a:xfrm>
      </p:grpSpPr>
      <p:sp>
        <p:nvSpPr>
          <p:cNvPr name="TextBox 2" id="2"/>
          <p:cNvSpPr txBox="true"/>
          <p:nvPr/>
        </p:nvSpPr>
        <p:spPr>
          <a:xfrm rot="0">
            <a:off x="5265539" y="4324691"/>
            <a:ext cx="7756922" cy="1747519"/>
          </a:xfrm>
          <a:prstGeom prst="rect">
            <a:avLst/>
          </a:prstGeom>
        </p:spPr>
        <p:txBody>
          <a:bodyPr anchor="t" rtlCol="false" tIns="0" lIns="0" bIns="0" rIns="0">
            <a:spAutoFit/>
          </a:bodyPr>
          <a:lstStyle/>
          <a:p>
            <a:pPr algn="ctr">
              <a:lnSpc>
                <a:spcPts val="12880"/>
              </a:lnSpc>
            </a:pPr>
            <a:r>
              <a:rPr lang="en-US" sz="9200">
                <a:solidFill>
                  <a:srgbClr val="FFFFFF"/>
                </a:solidFill>
                <a:latin typeface="Times New Roman MT"/>
                <a:ea typeface="Times New Roman MT"/>
                <a:cs typeface="Times New Roman MT"/>
                <a:sym typeface="Times New Roman MT"/>
              </a:rPr>
              <a:t>Muchas gracias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DAGqbrM6xJY</dc:identifier>
  <dcterms:modified xsi:type="dcterms:W3CDTF">2011-08-01T06:04:30Z</dcterms:modified>
  <cp:revision>1</cp:revision>
  <dc:title>WEB API</dc:title>
</cp:coreProperties>
</file>